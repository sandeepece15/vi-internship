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6011" y="3580757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1600" b="0" dirty="0">
                <a:solidFill>
                  <a:schemeClr val="tx1"/>
                </a:solidFill>
              </a:rPr>
              <a:t>Sandeep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sz="1600" b="0" dirty="0">
                <a:solidFill>
                  <a:schemeClr val="tx1"/>
                </a:solidFill>
              </a:rPr>
              <a:t>DTU-Delhi Technological University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719" y="2530638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442254"/>
            <a:ext cx="3176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[STU694b812023ec81766555936]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6055" y="1931539"/>
            <a:ext cx="6431280" cy="360798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Farming outcomes shift a lot depending on the season — rainfall, temperature, soil conditions and even market prices all change between Kharif, Rabi and Zaid. On its own, the raw dataset doesn't make these differences obvious. This project looks at season-wise agricultural records to work out how yield, profit and resource use actually vary across seasons, and what's driving those differences.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sz="2800" b="1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lang="en-GB" sz="3100" b="0" dirty="0"/>
              <a:t>A season-wise study of Indian farm data — 4,000 records across Kharif, Rabi and Zaid, covering 8 crops and 8 states. After cleaning the data (120 missing values, no duplicates), I used visual and statistical analysis to uncover how yield, profit </a:t>
            </a:r>
            <a:r>
              <a:rPr lang="en-GB" sz="2000" b="0" dirty="0"/>
              <a:t>and resource use shift by season, and what patterns could guide better planning.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92500"/>
          </a:bodyPr>
          <a:lstStyle/>
          <a:p>
            <a:pPr marL="285750" indent="-285750" algn="l">
              <a:lnSpc>
                <a:spcPct val="140000"/>
              </a:lnSpc>
              <a:buFont typeface="Arial"/>
              <a:buChar char="•"/>
            </a:pPr>
            <a:r>
              <a:rPr lang="en-IN" sz="2400" dirty="0"/>
              <a:t>Farmers and growers deciding what to plant each season</a:t>
            </a:r>
          </a:p>
          <a:p>
            <a:pPr marL="285750" indent="-285750" algn="l">
              <a:lnSpc>
                <a:spcPct val="140000"/>
              </a:lnSpc>
              <a:buFont typeface="Arial"/>
              <a:buChar char="•"/>
            </a:pPr>
            <a:r>
              <a:rPr lang="en-IN" sz="2400" dirty="0"/>
              <a:t>Agricultural extension officers and policymakers shaping seasonal advisories</a:t>
            </a:r>
          </a:p>
          <a:p>
            <a:pPr marL="285750" indent="-285750" algn="l">
              <a:lnSpc>
                <a:spcPct val="140000"/>
              </a:lnSpc>
              <a:buFont typeface="Arial"/>
              <a:buChar char="•"/>
            </a:pPr>
            <a:r>
              <a:rPr lang="en-IN" sz="2400" dirty="0"/>
              <a:t>Agribusinesses, input suppliers and crop insurance providers</a:t>
            </a:r>
          </a:p>
          <a:p>
            <a:pPr marL="285750" indent="-285750" algn="l">
              <a:lnSpc>
                <a:spcPct val="140000"/>
              </a:lnSpc>
              <a:buFont typeface="Arial"/>
              <a:buChar char="•"/>
            </a:pPr>
            <a:r>
              <a:rPr lang="en-IN" sz="2400" dirty="0"/>
              <a:t>Researchers, students and analysts working with seasonal farm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marL="285750" indent="-285750" algn="l">
              <a:lnSpc>
                <a:spcPct val="115000"/>
              </a:lnSpc>
              <a:buFont typeface="Arial"/>
              <a:buChar char="•"/>
            </a:pPr>
            <a:r>
              <a:rPr lang="en-IN" sz="1800" dirty="0"/>
              <a:t>Python for the core analysis</a:t>
            </a:r>
          </a:p>
          <a:p>
            <a:pPr marL="285750" indent="-285750" algn="l">
              <a:lnSpc>
                <a:spcPct val="115000"/>
              </a:lnSpc>
              <a:buFont typeface="Arial"/>
              <a:buChar char="•"/>
            </a:pPr>
            <a:r>
              <a:rPr lang="en-IN" sz="1800" dirty="0"/>
              <a:t>Pandas and NumPy for cleaning the data</a:t>
            </a:r>
          </a:p>
          <a:p>
            <a:pPr marL="285750" indent="-285750" algn="l">
              <a:lnSpc>
                <a:spcPct val="115000"/>
              </a:lnSpc>
              <a:buFont typeface="Arial"/>
              <a:buChar char="•"/>
            </a:pPr>
            <a:r>
              <a:rPr lang="en-IN" sz="1800" dirty="0"/>
              <a:t>Matplotlib and Seaborn for visualizations</a:t>
            </a:r>
          </a:p>
          <a:p>
            <a:pPr marL="285750" indent="-285750" algn="l">
              <a:lnSpc>
                <a:spcPct val="115000"/>
              </a:lnSpc>
              <a:buFont typeface="Arial"/>
              <a:buChar char="•"/>
            </a:pPr>
            <a:r>
              <a:rPr lang="en-IN" sz="1800" dirty="0"/>
              <a:t>SciPy for statistical tests (Kruskal-Wallis, Mann-Whitney U)</a:t>
            </a:r>
          </a:p>
          <a:p>
            <a:pPr marL="285750" indent="-285750" algn="l">
              <a:lnSpc>
                <a:spcPct val="115000"/>
              </a:lnSpc>
              <a:buFont typeface="Arial"/>
              <a:buChar char="•"/>
            </a:pPr>
            <a:r>
              <a:rPr lang="en-IN" sz="1800" dirty="0"/>
              <a:t>Jupyter Notebook / Google Colab as the environment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5.64 t/ha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00" dirty="0"/>
              <a:t>Kharif's avg yield — highest of the 3 seasons</a:t>
            </a:r>
          </a:p>
        </p:txBody>
      </p:sp>
      <p:pic>
        <p:nvPicPr>
          <p:cNvPr id="24" name="Picture 23" descr="seas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" y="2057400"/>
            <a:ext cx="5943600" cy="37147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0000" y="5862150"/>
            <a:ext cx="10500000" cy="905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300" dirty="0"/>
              <a:t>Kharif posted the highest average yield (5.64 t/ha), ahead of Rabi (5.08) and Zaid (4.67). An ANOVA test says this gap isn't statistically significant (p = 0.23) — yield stays fairly steady across seasons.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₹1.79L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00" dirty="0"/>
              <a:t>Kharif's average profit per farm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0000" y="5862150"/>
            <a:ext cx="10500000" cy="905850"/>
          </a:xfrm>
        </p:spPr>
        <p:txBody>
          <a:bodyPr wrap="square"/>
          <a:lstStyle/>
          <a:p>
            <a:pPr>
              <a:lnSpc>
                <a:spcPct val="115000"/>
              </a:lnSpc>
              <a:buNone/>
            </a:pPr>
            <a:r>
              <a:rPr lang="en-IN" sz="1300" dirty="0"/>
              <a:t>Profit tells a different story. Kharif farms averaged ₹1,78,915 in profit — more than double Rabi's ₹87,689 — while Zaid ran at an average loss of ₹24,805. Unlike yield, this seasonal gap in profit is statistically significant (ANOVA, p &lt; 0.001).</a:t>
            </a:r>
          </a:p>
        </p:txBody>
      </p:sp>
      <p:pic>
        <p:nvPicPr>
          <p:cNvPr id="31" name="Picture 30" descr="season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" y="2057400"/>
            <a:ext cx="59436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Sugarcane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00" dirty="0"/>
              <a:t>Highest yield &amp; profit of all 8 crops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0000" y="5862150"/>
            <a:ext cx="10500000" cy="905850"/>
          </a:xfrm>
        </p:spPr>
        <p:txBody>
          <a:bodyPr wrap="square"/>
          <a:lstStyle/>
          <a:p>
            <a:pPr>
              <a:lnSpc>
                <a:spcPct val="115000"/>
              </a:lnSpc>
              <a:buNone/>
            </a:pPr>
            <a:r>
              <a:rPr lang="en-IN" sz="1300" dirty="0"/>
              <a:t>Sugarcane leads on both fronts — 46.9 t/ha average yield and ₹8.17L average profit. Chilli is a close second on profit (₹7.5L) despite a modest yield. Wheat, Rice and Maize all ran at a loss on average.</a:t>
            </a:r>
          </a:p>
        </p:txBody>
      </p:sp>
      <p:pic>
        <p:nvPicPr>
          <p:cNvPr id="31" name="Picture 30" descr="crop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" y="2057400"/>
            <a:ext cx="59436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Drip irrigation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00" dirty="0"/>
              <a:t>6.62 t/ha — the best-performing method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0000" y="5862150"/>
            <a:ext cx="10500000" cy="905850"/>
          </a:xfrm>
        </p:spPr>
        <p:txBody>
          <a:bodyPr wrap="square"/>
          <a:lstStyle/>
          <a:p>
            <a:pPr>
              <a:lnSpc>
                <a:spcPct val="115000"/>
              </a:lnSpc>
              <a:buNone/>
            </a:pPr>
            <a:r>
              <a:rPr lang="en-IN" sz="1300" dirty="0"/>
              <a:t>Drip irrigation clearly outperforms the rest, in both yield (6.62 t/ha) and profit (₹2.2L average) — well ahead of sprinkler, flood and rainfed methods.</a:t>
            </a:r>
          </a:p>
        </p:txBody>
      </p:sp>
      <p:pic>
        <p:nvPicPr>
          <p:cNvPr id="31" name="Picture 30" descr="irrigati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" y="2057400"/>
            <a:ext cx="59436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r = 0.49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00" dirty="0"/>
              <a:t>Correlation between yield and profit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0000" y="6109800"/>
            <a:ext cx="10500000" cy="658200"/>
          </a:xfrm>
        </p:spPr>
        <p:txBody>
          <a:bodyPr wrap="square"/>
          <a:lstStyle/>
          <a:p>
            <a:pPr>
              <a:lnSpc>
                <a:spcPct val="115000"/>
              </a:lnSpc>
              <a:buNone/>
            </a:pPr>
            <a:r>
              <a:rPr lang="en-IN" sz="1300" dirty="0"/>
              <a:t>None of the environmental or input variables — rainfall, temperature, fertilizer, seed quality — correlate strongly with yield on their own. The strongest relationship in the whole dataset is between yield and profit.</a:t>
            </a:r>
          </a:p>
        </p:txBody>
      </p:sp>
      <p:pic>
        <p:nvPicPr>
          <p:cNvPr id="31" name="Picture 30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" y="2057400"/>
            <a:ext cx="59436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500" dirty="0">
              <a:solidFill/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209015" y="1075705"/>
            <a:ext cx="6527687" cy="4982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20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2000" dirty="0"/>
              <a:t>Develop ML models for crop yield and profit prediction.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2000" dirty="0"/>
              <a:t>Build a crop recommendation system based on soil and weather conditions.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2000" dirty="0"/>
              <a:t>Integrate real-time weather data for better seasonal predictions.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2000" dirty="0"/>
              <a:t>Develop smart irrigation and disease-risk prediction systems.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2000" dirty="0"/>
              <a:t>Convert the analysis into an interactive </a:t>
            </a:r>
            <a:r>
              <a:rPr lang="en-IN" sz="2000" dirty="0" err="1"/>
              <a:t>Streamlit</a:t>
            </a:r>
            <a:r>
              <a:rPr lang="en-IN" sz="2000" dirty="0"/>
              <a:t>/Power BI dashboard.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https://github.com/sandeepece15/vi-internship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FAB97-FE0D-4103-581B-3613F702B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02" y="1492780"/>
            <a:ext cx="7311459" cy="517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69B725-EE27-5378-C525-5FECDB81F640}"/>
              </a:ext>
            </a:extLst>
          </p:cNvPr>
          <p:cNvSpPr txBox="1"/>
          <p:nvPr/>
        </p:nvSpPr>
        <p:spPr>
          <a:xfrm>
            <a:off x="1362271" y="1225924"/>
            <a:ext cx="649450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/>
          </a:p>
          <a:p>
            <a:r>
              <a:rPr lang="en-IN" sz="2800" i="1" dirty="0"/>
              <a:t>“From Data to Decisions, From Decisions to Smarter Farming.”</a:t>
            </a:r>
            <a:endParaRPr lang="en-IN" sz="2800" dirty="0"/>
          </a:p>
          <a:p>
            <a:r>
              <a:rPr lang="en-IN" sz="2800" b="1" dirty="0"/>
              <a:t>Future Scope:</a:t>
            </a:r>
            <a:r>
              <a:rPr lang="en-IN" sz="2800" dirty="0"/>
              <a:t> Integrating </a:t>
            </a:r>
            <a:r>
              <a:rPr lang="en-IN" sz="2800" b="1" dirty="0"/>
              <a:t>Machine Learning and Generative AI</a:t>
            </a:r>
            <a:r>
              <a:rPr lang="en-IN" sz="2800" dirty="0"/>
              <a:t> can enable </a:t>
            </a:r>
            <a:r>
              <a:rPr lang="en-IN" sz="2800" b="1" dirty="0"/>
              <a:t>yield prediction, crop recommendation, disease-risk forecasting, intelligent irrigation, and personalized agricultural insights.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1366</TotalTime>
  <Words>618</Words>
  <Application>Microsoft Office PowerPoint</Application>
  <PresentationFormat>Widescreen</PresentationFormat>
  <Paragraphs>55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 A season-wise study of Indian farm data — 4,000 records across Kharif, Rabi and Zaid, covering 8 crops and 8 states. After cleaning the data (120 missing values, no duplicates), I used visual and statistical analysis to uncover how yield, profit and resource use shift by season, and what patterns could guide better planning.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Seasonal Agriculture Performance Analysis</dc:title>
  <dc:creator>Aswini Kumar Motapothula</dc:creator>
  <cp:lastModifiedBy>sandeep STUDENT</cp:lastModifiedBy>
  <cp:revision>99</cp:revision>
  <dcterms:created xsi:type="dcterms:W3CDTF">2021-07-11T13:13:15Z</dcterms:created>
  <dcterms:modified xsi:type="dcterms:W3CDTF">2026-09-15T12:37:32Z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